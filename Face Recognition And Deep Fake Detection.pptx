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1" r:id="rId13"/>
    <p:sldId id="272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18C0-CA7E-80A5-03D0-BD9BEB129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FDED9-6C81-B69D-BD6D-091196D1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3F3CE-59CF-E7A7-DA6B-BB39F82D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29B20-5C0F-3953-21B6-0C9265D0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EB55C-0FEE-C55D-469A-2E247A94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38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0CDC-02B7-2B11-ABD3-E766578B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A627C-98B3-FABD-DCE6-D6069E20F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58166-1E8E-F0B9-653E-364C6758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5DFA-9615-FE1F-6865-203ADCEE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0E73-8C6C-C1CD-E5A9-2916CA5C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4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28DD-626D-21E2-BD1D-FF4D7DFB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D58AA-CC5A-D6D3-B441-8CE4E88B5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38FA4-3084-996C-FBD5-0586A9A6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A836-04F5-17A0-447C-0C414FF3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7E5D-17AE-D5A8-C56F-E6A72D93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9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292C-03CE-8121-37CB-9791B042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EA5FF-2BAB-3D8C-B986-2E7ED0361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4369B-3607-6C88-0FED-08E597E32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276B1-23DC-6E72-AE22-57CE14CE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68022-DD61-4E86-2C48-50C1BF2B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B5127-0C54-2BBA-9C0B-A03EC4C9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2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BD08-2C42-75D4-9A64-DD1AA9D3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33EE2-490D-C8D8-1FCE-680DEEAA6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6F4C9-FC45-8B0C-EF91-F238BE556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10BA0-2523-0D88-0711-483DCF535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C0650-F21C-757E-E32F-F5494426D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F78B1-6DE1-FEEA-9D21-723CC487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91E55-673D-18BE-FECE-4EACD753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59544-BA8C-62A0-8715-F6448313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73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2D51-29D7-AA21-DDF3-D8216522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97ABC-5B32-983B-D4E2-0140E777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BC7F0-B5D6-14BA-62FB-2AF35A08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ECD1-75E0-ABB2-98F7-5C390DA4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6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C6BC2-97B3-CAE9-3AF9-625D3D94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BA7F8-2A1F-AA83-6D74-A60328AF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88F44-885C-B7BC-0CFF-A7775377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2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C826-1C2C-B135-BBB9-EA4DF012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EC4CB-94D7-075D-258A-6C307544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A173C-1501-8FDB-52C9-85C24E27A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8DEE6-69FD-A0AC-0610-2991C6A5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F0992-A568-FC11-6AE5-D66FCDFDB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8543F-B725-A10A-BEC8-6650F6F3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72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F330-17E9-B895-AAA8-59904C77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0CFCB-5C47-C6EB-1B1D-9C5688C4B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53451-FD77-3ED6-B599-BD3C9BD2B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7C339-2C43-F803-6968-61F34E0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AE5B4-8A74-F427-08B8-B7714D2F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927E6-6B97-88CF-CAE4-86D17C38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126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6BFB-7455-71AB-60A1-D833B340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6E13E-CC0C-92E5-E6DF-E81692F78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7050-A1B0-E1C3-517D-9B564412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66954-21A9-725F-0BC3-6BD55551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FF21C-C0C9-71A4-00A3-1B16FBA08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5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3AB97E-3AD2-04B9-B491-D27E222CC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F3C9E-BD44-A3AC-EC74-E1513FFE4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2C4CE-9807-0149-E6CF-E640E63E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FFA7B-06A0-A491-EBFA-7F44A7AE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B0675-9AC3-0F7C-72F6-17584498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5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464BD-D215-39DA-1DF4-2A2ED7409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A72DB-6F9D-74D1-AFDB-564343E8C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0F088-7185-1102-D4CB-073987275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DDB78-A54F-43FA-A931-09AB2E116D0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6A2BF-88CC-4D89-D96E-A48C2DA7E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8A8C8-A006-435A-382D-E0F23A5EF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995BD-194D-44D1-B981-0D8FA00D1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8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994400" cy="6858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1040" b="-104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156450" y="1141413"/>
            <a:ext cx="4591050" cy="450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Face Recognition</a:t>
            </a:r>
            <a:b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</a:br>
            <a: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and </a:t>
            </a:r>
            <a:b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</a:br>
            <a: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Deep Fake </a:t>
            </a:r>
            <a:b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</a:br>
            <a:r>
              <a:rPr lang="en-US" sz="7000" dirty="0">
                <a:solidFill>
                  <a:schemeClr val="accent1">
                    <a:lumMod val="75000"/>
                  </a:schemeClr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25001-1865-B80D-77BF-9306D92B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0A1C-9B1C-7421-7152-6E7839C7C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0430"/>
            <a:ext cx="9144000" cy="2067169"/>
          </a:xfrm>
        </p:spPr>
        <p:txBody>
          <a:bodyPr/>
          <a:lstStyle/>
          <a:p>
            <a:r>
              <a:rPr lang="en-US" dirty="0"/>
              <a:t>Team Members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FAD01-FA54-EE82-5F6F-BE737C4D8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5200" y="3062777"/>
            <a:ext cx="9144000" cy="1655762"/>
          </a:xfrm>
        </p:spPr>
        <p:txBody>
          <a:bodyPr>
            <a:normAutofit lnSpcReduction="10000"/>
          </a:bodyPr>
          <a:lstStyle/>
          <a:p>
            <a:pPr marL="457200" indent="-457200" algn="l">
              <a:buAutoNum type="arabicParenR"/>
            </a:pPr>
            <a:r>
              <a:rPr lang="en-US" dirty="0"/>
              <a:t>K . Harsha Vardhan       - 22BTRCL075</a:t>
            </a:r>
          </a:p>
          <a:p>
            <a:pPr marL="457200" indent="-457200" algn="l">
              <a:buAutoNum type="arabicParenR"/>
            </a:pPr>
            <a:r>
              <a:rPr lang="en-US" dirty="0"/>
              <a:t>M . Sai Shreyas Reddy  - 22BTRCL094</a:t>
            </a:r>
          </a:p>
          <a:p>
            <a:pPr marL="457200" indent="-457200" algn="l">
              <a:buAutoNum type="arabicParenR"/>
            </a:pPr>
            <a:r>
              <a:rPr lang="en-US" dirty="0"/>
              <a:t>CV . Bhargav Gowd       - 22BTRCL043</a:t>
            </a:r>
          </a:p>
          <a:p>
            <a:pPr marL="457200" indent="-457200" algn="l">
              <a:buAutoNum type="arabicParenR"/>
            </a:pPr>
            <a:r>
              <a:rPr lang="en-US" dirty="0"/>
              <a:t>CH . Madhu </a:t>
            </a:r>
            <a:r>
              <a:rPr lang="en-US" dirty="0" err="1"/>
              <a:t>keerthi</a:t>
            </a:r>
            <a:r>
              <a:rPr lang="en-US" dirty="0"/>
              <a:t>      - 22BTRCL038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FB51F-C485-5462-C03D-5886A7D9A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2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28030" y="1413678"/>
            <a:ext cx="3682970" cy="4902280"/>
            <a:chOff x="0" y="0"/>
            <a:chExt cx="1548689" cy="2061409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48689" cy="2061409"/>
            </a:xfrm>
            <a:custGeom>
              <a:avLst/>
              <a:gdLst/>
              <a:ahLst/>
              <a:cxnLst/>
              <a:rect l="l" t="t" r="r" b="b"/>
              <a:pathLst>
                <a:path w="1548689" h="2061409">
                  <a:moveTo>
                    <a:pt x="25225" y="0"/>
                  </a:moveTo>
                  <a:lnTo>
                    <a:pt x="1523464" y="0"/>
                  </a:lnTo>
                  <a:cubicBezTo>
                    <a:pt x="1537395" y="0"/>
                    <a:pt x="1548689" y="11294"/>
                    <a:pt x="1548689" y="25225"/>
                  </a:cubicBezTo>
                  <a:lnTo>
                    <a:pt x="1548689" y="2036184"/>
                  </a:lnTo>
                  <a:cubicBezTo>
                    <a:pt x="1548689" y="2050115"/>
                    <a:pt x="1537395" y="2061409"/>
                    <a:pt x="1523464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0074D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48689" cy="2061409"/>
            </a:xfrm>
            <a:prstGeom prst="rect">
              <a:avLst/>
            </a:prstGeom>
          </p:spPr>
          <p:txBody>
            <a:bodyPr lIns="22519" tIns="22519" rIns="22519" bIns="22519" rtlCol="0" anchor="ctr"/>
            <a:lstStyle/>
            <a:p>
              <a:pPr algn="ctr">
                <a:lnSpc>
                  <a:spcPts val="107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56118" y="1413678"/>
            <a:ext cx="3681382" cy="4902280"/>
            <a:chOff x="0" y="0"/>
            <a:chExt cx="1548021" cy="2061409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48021" cy="2061409"/>
            </a:xfrm>
            <a:custGeom>
              <a:avLst/>
              <a:gdLst/>
              <a:ahLst/>
              <a:cxnLst/>
              <a:rect l="l" t="t" r="r" b="b"/>
              <a:pathLst>
                <a:path w="1548021" h="2061409">
                  <a:moveTo>
                    <a:pt x="25236" y="0"/>
                  </a:moveTo>
                  <a:lnTo>
                    <a:pt x="1522785" y="0"/>
                  </a:lnTo>
                  <a:cubicBezTo>
                    <a:pt x="1529478" y="0"/>
                    <a:pt x="1535897" y="2659"/>
                    <a:pt x="1540630" y="7391"/>
                  </a:cubicBezTo>
                  <a:cubicBezTo>
                    <a:pt x="1545362" y="12124"/>
                    <a:pt x="1548021" y="18543"/>
                    <a:pt x="1548021" y="25236"/>
                  </a:cubicBezTo>
                  <a:lnTo>
                    <a:pt x="1548021" y="2036173"/>
                  </a:lnTo>
                  <a:cubicBezTo>
                    <a:pt x="1548021" y="2050110"/>
                    <a:pt x="1536723" y="2061409"/>
                    <a:pt x="1522785" y="2061409"/>
                  </a:cubicBezTo>
                  <a:lnTo>
                    <a:pt x="25236" y="2061409"/>
                  </a:lnTo>
                  <a:cubicBezTo>
                    <a:pt x="11299" y="2061409"/>
                    <a:pt x="0" y="2050110"/>
                    <a:pt x="0" y="2036173"/>
                  </a:cubicBezTo>
                  <a:lnTo>
                    <a:pt x="0" y="25236"/>
                  </a:lnTo>
                  <a:cubicBezTo>
                    <a:pt x="0" y="11299"/>
                    <a:pt x="11299" y="0"/>
                    <a:pt x="25236" y="0"/>
                  </a:cubicBezTo>
                  <a:close/>
                </a:path>
              </a:pathLst>
            </a:custGeom>
            <a:solidFill>
              <a:srgbClr val="0074D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548021" cy="2061409"/>
            </a:xfrm>
            <a:prstGeom prst="rect">
              <a:avLst/>
            </a:prstGeom>
          </p:spPr>
          <p:txBody>
            <a:bodyPr lIns="22519" tIns="22519" rIns="22519" bIns="22519" rtlCol="0" anchor="ctr"/>
            <a:lstStyle/>
            <a:p>
              <a:pPr algn="ctr">
                <a:lnSpc>
                  <a:spcPts val="107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0952" y="1413678"/>
            <a:ext cx="3683000" cy="4902280"/>
            <a:chOff x="0" y="0"/>
            <a:chExt cx="1548701" cy="2061409"/>
          </a:xfrm>
        </p:grpSpPr>
        <p:sp>
          <p:nvSpPr>
            <p:cNvPr id="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48701" cy="2061409"/>
            </a:xfrm>
            <a:custGeom>
              <a:avLst/>
              <a:gdLst/>
              <a:ahLst/>
              <a:cxnLst/>
              <a:rect l="l" t="t" r="r" b="b"/>
              <a:pathLst>
                <a:path w="1548701" h="2061409">
                  <a:moveTo>
                    <a:pt x="25225" y="0"/>
                  </a:moveTo>
                  <a:lnTo>
                    <a:pt x="1523477" y="0"/>
                  </a:lnTo>
                  <a:cubicBezTo>
                    <a:pt x="1537408" y="0"/>
                    <a:pt x="1548701" y="11294"/>
                    <a:pt x="1548701" y="25225"/>
                  </a:cubicBezTo>
                  <a:lnTo>
                    <a:pt x="1548701" y="2036184"/>
                  </a:lnTo>
                  <a:cubicBezTo>
                    <a:pt x="1548701" y="2050115"/>
                    <a:pt x="1537408" y="2061409"/>
                    <a:pt x="1523477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0074D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548701" cy="2061409"/>
            </a:xfrm>
            <a:prstGeom prst="rect">
              <a:avLst/>
            </a:prstGeom>
          </p:spPr>
          <p:txBody>
            <a:bodyPr lIns="22519" tIns="22519" rIns="22519" bIns="22519" rtlCol="0" anchor="ctr"/>
            <a:lstStyle/>
            <a:p>
              <a:pPr algn="ctr">
                <a:lnSpc>
                  <a:spcPts val="107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1203" y="3158058"/>
            <a:ext cx="3305812" cy="116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3000" spc="-90" dirty="0">
                <a:solidFill>
                  <a:srgbClr val="F0F8FF"/>
                </a:solidFill>
                <a:latin typeface="DM Sans"/>
                <a:ea typeface="DM Sans"/>
                <a:cs typeface="DM Sans"/>
                <a:sym typeface="DM Sans"/>
              </a:rPr>
              <a:t>Detecting faces with advanced AI technology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2600" y="539304"/>
            <a:ext cx="3683018" cy="2516809"/>
            <a:chOff x="0" y="0"/>
            <a:chExt cx="1189426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9426" cy="812800"/>
            </a:xfrm>
            <a:custGeom>
              <a:avLst/>
              <a:gdLst/>
              <a:ahLst/>
              <a:cxnLst/>
              <a:rect l="l" t="t" r="r" b="b"/>
              <a:pathLst>
                <a:path w="1189426" h="812800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2"/>
              <a:stretch>
                <a:fillRect t="-577" b="-57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382619" y="2836119"/>
            <a:ext cx="3681381" cy="219995"/>
            <a:chOff x="0" y="0"/>
            <a:chExt cx="1454373" cy="869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4373" cy="86912"/>
            </a:xfrm>
            <a:custGeom>
              <a:avLst/>
              <a:gdLst/>
              <a:ahLst/>
              <a:cxnLst/>
              <a:rect l="l" t="t" r="r" b="b"/>
              <a:pathLst>
                <a:path w="1454373" h="86912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28030" y="539304"/>
            <a:ext cx="3683018" cy="2516809"/>
            <a:chOff x="0" y="0"/>
            <a:chExt cx="118942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89426" cy="812800"/>
            </a:xfrm>
            <a:custGeom>
              <a:avLst/>
              <a:gdLst/>
              <a:ahLst/>
              <a:cxnLst/>
              <a:rect l="l" t="t" r="r" b="b"/>
              <a:pathLst>
                <a:path w="1189426" h="812800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3"/>
              <a:stretch>
                <a:fillRect t="-577" b="-57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8128049" y="2836119"/>
            <a:ext cx="3681381" cy="219995"/>
            <a:chOff x="0" y="0"/>
            <a:chExt cx="1454373" cy="869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4373" cy="86912"/>
            </a:xfrm>
            <a:custGeom>
              <a:avLst/>
              <a:gdLst/>
              <a:ahLst/>
              <a:cxnLst/>
              <a:rect l="l" t="t" r="r" b="b"/>
              <a:pathLst>
                <a:path w="1454373" h="86912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54482" y="539304"/>
            <a:ext cx="3683018" cy="2516809"/>
            <a:chOff x="0" y="0"/>
            <a:chExt cx="1189426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89426" cy="812800"/>
            </a:xfrm>
            <a:custGeom>
              <a:avLst/>
              <a:gdLst/>
              <a:ahLst/>
              <a:cxnLst/>
              <a:rect l="l" t="t" r="r" b="b"/>
              <a:pathLst>
                <a:path w="1189426" h="812800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4"/>
              <a:stretch>
                <a:fillRect t="-577" b="-577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4254501" y="2836119"/>
            <a:ext cx="3681381" cy="219995"/>
            <a:chOff x="0" y="0"/>
            <a:chExt cx="1454373" cy="869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54373" cy="86912"/>
            </a:xfrm>
            <a:custGeom>
              <a:avLst/>
              <a:gdLst/>
              <a:ahLst/>
              <a:cxnLst/>
              <a:rect l="l" t="t" r="r" b="b"/>
              <a:pathLst>
                <a:path w="1454373" h="86912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442285" y="3106914"/>
            <a:ext cx="3305812" cy="155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3000" spc="-90" dirty="0">
                <a:solidFill>
                  <a:srgbClr val="F0F8FF"/>
                </a:solidFill>
                <a:latin typeface="DM Sans"/>
                <a:ea typeface="DM Sans"/>
                <a:cs typeface="DM Sans"/>
                <a:sym typeface="DM Sans"/>
              </a:rPr>
              <a:t>Recognizing individuals accurately and efficiently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18500" y="3106914"/>
            <a:ext cx="3305812" cy="116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  <a:spcBef>
                <a:spcPct val="0"/>
              </a:spcBef>
            </a:pPr>
            <a:r>
              <a:rPr lang="en-US" sz="3000" spc="-90" dirty="0">
                <a:solidFill>
                  <a:srgbClr val="F0F8FF"/>
                </a:solidFill>
                <a:latin typeface="DM Sans"/>
                <a:ea typeface="DM Sans"/>
                <a:cs typeface="DM Sans"/>
                <a:sym typeface="DM Sans"/>
              </a:rPr>
              <a:t>Identifying deepfakes to ensure security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9B11ED-A997-5F33-914E-BAB023F66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830" y="51610"/>
            <a:ext cx="1711569" cy="4876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0" y="12700"/>
            <a:ext cx="6953250" cy="6845300"/>
            <a:chOff x="0" y="0"/>
            <a:chExt cx="2746963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4316"/>
            </a:xfrm>
            <a:custGeom>
              <a:avLst/>
              <a:gdLst/>
              <a:ahLst/>
              <a:cxnLst/>
              <a:rect l="l" t="t" r="r" b="b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746963" cy="27138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67"/>
                </a:lnSpc>
              </a:pPr>
              <a:endParaRPr sz="1200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82170" y="935610"/>
            <a:ext cx="2466410" cy="4999481"/>
            <a:chOff x="0" y="0"/>
            <a:chExt cx="9398000" cy="19050000"/>
          </a:xfrm>
        </p:grpSpPr>
        <p:sp>
          <p:nvSpPr>
            <p:cNvPr id="6" name="Freeform 6"/>
            <p:cNvSpPr/>
            <p:nvPr/>
          </p:nvSpPr>
          <p:spPr>
            <a:xfrm>
              <a:off x="401955" y="301498"/>
              <a:ext cx="8566912" cy="18446877"/>
            </a:xfrm>
            <a:custGeom>
              <a:avLst/>
              <a:gdLst/>
              <a:ahLst/>
              <a:cxnLst/>
              <a:rect l="l" t="t" r="r" b="b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2"/>
              <a:stretch>
                <a:fillRect l="-2889" r="-288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398000" cy="19050000"/>
            </a:xfrm>
            <a:custGeom>
              <a:avLst/>
              <a:gdLst/>
              <a:ahLst/>
              <a:cxnLst/>
              <a:rect l="l" t="t" r="r" b="b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87350" y="664982"/>
            <a:ext cx="4648200" cy="3602574"/>
            <a:chOff x="0" y="-1752065"/>
            <a:chExt cx="9296400" cy="720514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752065"/>
              <a:ext cx="9296400" cy="4671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6000" spc="-180" dirty="0">
                  <a:solidFill>
                    <a:schemeClr val="accent1">
                      <a:lumMod val="75000"/>
                    </a:schemeClr>
                  </a:solidFill>
                  <a:latin typeface="DM Sans"/>
                  <a:ea typeface="DM Sans"/>
                  <a:cs typeface="DM Sans"/>
                  <a:sym typeface="DM Sans"/>
                </a:rPr>
                <a:t>System Process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140" y="3811607"/>
              <a:ext cx="7366000" cy="1641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99"/>
                </a:lnSpc>
              </a:pP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This system seamlessly integrates </a:t>
              </a:r>
              <a:r>
                <a:rPr lang="en-US" sz="1400" b="1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input, detection, recognition</a:t>
              </a: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, and </a:t>
              </a:r>
              <a:r>
                <a:rPr lang="en-US" sz="1400" b="1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deepfake validation</a:t>
              </a: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processes, ensuring efficient analysis and output of face recognition results in real-time.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3254D4D-8B5D-8832-55B5-29D043497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4851378"/>
            <a:ext cx="5619750" cy="1625622"/>
            <a:chOff x="0" y="0"/>
            <a:chExt cx="2112884" cy="611193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1000" y="3037764"/>
            <a:ext cx="5619750" cy="1625622"/>
            <a:chOff x="0" y="0"/>
            <a:chExt cx="2112884" cy="611193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00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1071" y="3272996"/>
            <a:ext cx="4414479" cy="1167856"/>
            <a:chOff x="0" y="76200"/>
            <a:chExt cx="8828958" cy="2335712"/>
          </a:xfrm>
        </p:grpSpPr>
        <p:sp>
          <p:nvSpPr>
            <p:cNvPr id="9" name="TextBox 9"/>
            <p:cNvSpPr txBox="1"/>
            <p:nvPr/>
          </p:nvSpPr>
          <p:spPr>
            <a:xfrm>
              <a:off x="0" y="76200"/>
              <a:ext cx="8828958" cy="79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Python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85806"/>
              <a:ext cx="8828958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Python is a versatile programming language known for its simplicity and extensive libraries, ideal for AI applications.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1071" y="5086609"/>
            <a:ext cx="4414479" cy="1167856"/>
            <a:chOff x="0" y="76200"/>
            <a:chExt cx="8828958" cy="233571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6200"/>
              <a:ext cx="8828958" cy="79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TensorFlow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85806"/>
              <a:ext cx="8828958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400" dirty="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TensorFlow is a powerful open-source machine learning framework that enables the development of deep learning models efficiently.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91250" y="4851378"/>
            <a:ext cx="5619750" cy="1625622"/>
            <a:chOff x="0" y="0"/>
            <a:chExt cx="2112884" cy="611193"/>
          </a:xfrm>
        </p:grpSpPr>
        <p:sp>
          <p:nvSpPr>
            <p:cNvPr id="1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00"/>
                </a:lnSpc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91250" y="3037764"/>
            <a:ext cx="5619750" cy="1625622"/>
            <a:chOff x="0" y="0"/>
            <a:chExt cx="2112884" cy="611193"/>
          </a:xfrm>
        </p:grpSpPr>
        <p:sp>
          <p:nvSpPr>
            <p:cNvPr id="18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00"/>
                </a:lnSpc>
              </a:pPr>
              <a:endParaRPr sz="12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09255" y="3272996"/>
            <a:ext cx="4279395" cy="1167856"/>
            <a:chOff x="0" y="76200"/>
            <a:chExt cx="8558790" cy="2335712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6200"/>
              <a:ext cx="8558790" cy="79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OpenCV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185806"/>
              <a:ext cx="8558790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OpenCV is an open-source computer vision library that provides tools for image processing and real-time video analysis.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09255" y="5086609"/>
            <a:ext cx="4279395" cy="1167856"/>
            <a:chOff x="0" y="76200"/>
            <a:chExt cx="8558790" cy="2335712"/>
          </a:xfrm>
        </p:grpSpPr>
        <p:sp>
          <p:nvSpPr>
            <p:cNvPr id="24" name="TextBox 24"/>
            <p:cNvSpPr txBox="1"/>
            <p:nvPr/>
          </p:nvSpPr>
          <p:spPr>
            <a:xfrm>
              <a:off x="0" y="76200"/>
              <a:ext cx="8558790" cy="79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MTCNN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185806"/>
              <a:ext cx="8558790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MTCNN (Multi-task Cascaded Convolutional Networks) effectively detects faces in images, crucial for our recognition system's accuracy.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81000" y="324369"/>
            <a:ext cx="11430000" cy="156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spc="-180" dirty="0">
                <a:solidFill>
                  <a:schemeClr val="accent1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Key Technologies for Detection System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D47B456-33ED-E131-112C-6DBAF87D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062" y="100565"/>
            <a:ext cx="1570892" cy="447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43721" y="385556"/>
            <a:ext cx="6414522" cy="2950045"/>
            <a:chOff x="0" y="0"/>
            <a:chExt cx="2534132" cy="116545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43721" y="3526956"/>
            <a:ext cx="6414522" cy="2950045"/>
            <a:chOff x="0" y="0"/>
            <a:chExt cx="2534132" cy="1165450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5301" y="685800"/>
            <a:ext cx="3283059" cy="2213823"/>
            <a:chOff x="0" y="0"/>
            <a:chExt cx="762948" cy="514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t="-1255" b="-12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115301" y="3852451"/>
            <a:ext cx="3283059" cy="2213823"/>
            <a:chOff x="0" y="0"/>
            <a:chExt cx="762948" cy="514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t="-1255" b="-125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93937" y="499856"/>
            <a:ext cx="4068648" cy="2217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50"/>
              </a:lnSpc>
            </a:pPr>
            <a:r>
              <a:rPr lang="en-US" sz="5650" spc="-169" dirty="0">
                <a:solidFill>
                  <a:schemeClr val="accent1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Architecture Flow Diagram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621172" y="723900"/>
            <a:ext cx="2290928" cy="1189015"/>
            <a:chOff x="0" y="76200"/>
            <a:chExt cx="4581856" cy="23780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6200"/>
              <a:ext cx="4581856" cy="79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Detection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28124"/>
              <a:ext cx="4581856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 dirty="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This phase identifies faces in images for further processing.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21172" y="3890551"/>
            <a:ext cx="2290928" cy="1188672"/>
            <a:chOff x="0" y="76200"/>
            <a:chExt cx="4581856" cy="237734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6200"/>
              <a:ext cx="4581856" cy="79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Recognition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27438"/>
              <a:ext cx="4581856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This step matches detected faces against stored data for identification.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108CCC2-1267-DFEE-CDCD-8EAEE7E50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883" y="23392"/>
            <a:ext cx="1398954" cy="398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43721" y="385556"/>
            <a:ext cx="6414522" cy="2950045"/>
            <a:chOff x="0" y="0"/>
            <a:chExt cx="2534132" cy="116545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43721" y="3526956"/>
            <a:ext cx="6414522" cy="2950045"/>
            <a:chOff x="0" y="0"/>
            <a:chExt cx="2534132" cy="1165450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5301" y="685800"/>
            <a:ext cx="3283059" cy="2213823"/>
            <a:chOff x="0" y="0"/>
            <a:chExt cx="762948" cy="514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t="-1255" b="-12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115301" y="3852451"/>
            <a:ext cx="3283059" cy="2213823"/>
            <a:chOff x="0" y="0"/>
            <a:chExt cx="762948" cy="514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t="-1255" b="-125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93937" y="493506"/>
            <a:ext cx="3885963" cy="233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spc="-180" dirty="0">
                <a:solidFill>
                  <a:schemeClr val="accent1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Deepfake Check and Output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621172" y="723900"/>
            <a:ext cx="2290928" cy="1364831"/>
            <a:chOff x="0" y="76200"/>
            <a:chExt cx="4581856" cy="2729662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6200"/>
              <a:ext cx="4581856" cy="15663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Deepfake Check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90124"/>
              <a:ext cx="4581856" cy="815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The system analyzes input for signs of manipulation.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21172" y="3890552"/>
            <a:ext cx="2290928" cy="1569672"/>
            <a:chOff x="0" y="76200"/>
            <a:chExt cx="4581856" cy="3139345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6200"/>
              <a:ext cx="4581856" cy="15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3000" spc="-90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Result Visualization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89439"/>
              <a:ext cx="4581856" cy="1226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Outputs are displayed with color-coded results for clarity.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93EBFDA-39BE-AA05-8919-008E37D7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0" y="12700"/>
            <a:ext cx="6953250" cy="6845300"/>
            <a:chOff x="0" y="0"/>
            <a:chExt cx="2746963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4316"/>
            </a:xfrm>
            <a:custGeom>
              <a:avLst/>
              <a:gdLst/>
              <a:ahLst/>
              <a:cxnLst/>
              <a:rect l="l" t="t" r="r" b="b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746963" cy="27138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67"/>
                </a:lnSpc>
              </a:pPr>
              <a:endParaRPr sz="1200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82170" y="935610"/>
            <a:ext cx="2466410" cy="4999481"/>
            <a:chOff x="0" y="0"/>
            <a:chExt cx="9398000" cy="19050000"/>
          </a:xfrm>
        </p:grpSpPr>
        <p:sp>
          <p:nvSpPr>
            <p:cNvPr id="6" name="Freeform 6"/>
            <p:cNvSpPr/>
            <p:nvPr/>
          </p:nvSpPr>
          <p:spPr>
            <a:xfrm>
              <a:off x="401955" y="301498"/>
              <a:ext cx="8566912" cy="18446877"/>
            </a:xfrm>
            <a:custGeom>
              <a:avLst/>
              <a:gdLst/>
              <a:ahLst/>
              <a:cxnLst/>
              <a:rect l="l" t="t" r="r" b="b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2"/>
              <a:stretch>
                <a:fillRect l="-2889" r="-288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398000" cy="19050000"/>
            </a:xfrm>
            <a:custGeom>
              <a:avLst/>
              <a:gdLst/>
              <a:ahLst/>
              <a:cxnLst/>
              <a:rect l="l" t="t" r="r" b="b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87349" y="1517202"/>
            <a:ext cx="4648201" cy="2823580"/>
            <a:chOff x="-2" y="-47625"/>
            <a:chExt cx="9296402" cy="5647160"/>
          </a:xfrm>
        </p:grpSpPr>
        <p:sp>
          <p:nvSpPr>
            <p:cNvPr id="9" name="TextBox 9"/>
            <p:cNvSpPr txBox="1"/>
            <p:nvPr/>
          </p:nvSpPr>
          <p:spPr>
            <a:xfrm>
              <a:off x="0" y="872755"/>
              <a:ext cx="9296400" cy="3132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6000" spc="-180" dirty="0">
                  <a:solidFill>
                    <a:schemeClr val="accent1">
                      <a:lumMod val="75000"/>
                    </a:schemeClr>
                  </a:solidFill>
                  <a:latin typeface="DM Sans"/>
                  <a:ea typeface="DM Sans"/>
                  <a:cs typeface="DM Sans"/>
                  <a:sym typeface="DM Sans"/>
                </a:rPr>
                <a:t>MTCNN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2" y="4368429"/>
              <a:ext cx="9166470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599"/>
                </a:lnSpc>
              </a:pP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MTCNN, or Multi-task Cascaded Convolutional Networks, efficiently detects faces by extracting features and applying deep learning techniques for accurate and rapid identification.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296400" cy="463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  <a:spcBef>
                  <a:spcPct val="0"/>
                </a:spcBef>
              </a:pPr>
              <a:r>
                <a:rPr lang="en-US" sz="1333" spc="11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FACE DETECTION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21CAB3F-D3E3-1340-95ED-0AFD47384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0" y="12700"/>
            <a:ext cx="6953250" cy="6845300"/>
            <a:chOff x="0" y="0"/>
            <a:chExt cx="2746963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4316"/>
            </a:xfrm>
            <a:custGeom>
              <a:avLst/>
              <a:gdLst/>
              <a:ahLst/>
              <a:cxnLst/>
              <a:rect l="l" t="t" r="r" b="b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746963" cy="27138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67"/>
                </a:lnSpc>
              </a:pPr>
              <a:endParaRPr sz="1200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82170" y="935610"/>
            <a:ext cx="2466410" cy="4999481"/>
            <a:chOff x="0" y="0"/>
            <a:chExt cx="9398000" cy="19050000"/>
          </a:xfrm>
        </p:grpSpPr>
        <p:sp>
          <p:nvSpPr>
            <p:cNvPr id="6" name="Freeform 6"/>
            <p:cNvSpPr/>
            <p:nvPr/>
          </p:nvSpPr>
          <p:spPr>
            <a:xfrm>
              <a:off x="401955" y="301498"/>
              <a:ext cx="8566912" cy="18446877"/>
            </a:xfrm>
            <a:custGeom>
              <a:avLst/>
              <a:gdLst/>
              <a:ahLst/>
              <a:cxnLst/>
              <a:rect l="l" t="t" r="r" b="b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2"/>
              <a:stretch>
                <a:fillRect l="-2889" r="-288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398000" cy="19050000"/>
            </a:xfrm>
            <a:custGeom>
              <a:avLst/>
              <a:gdLst/>
              <a:ahLst/>
              <a:cxnLst/>
              <a:rect l="l" t="t" r="r" b="b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87349" y="1517202"/>
            <a:ext cx="4648201" cy="3585580"/>
            <a:chOff x="-2" y="-47625"/>
            <a:chExt cx="9296402" cy="7171160"/>
          </a:xfrm>
        </p:grpSpPr>
        <p:sp>
          <p:nvSpPr>
            <p:cNvPr id="9" name="TextBox 9"/>
            <p:cNvSpPr txBox="1"/>
            <p:nvPr/>
          </p:nvSpPr>
          <p:spPr>
            <a:xfrm>
              <a:off x="0" y="872755"/>
              <a:ext cx="9296400" cy="4671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6000" spc="-180" dirty="0">
                  <a:solidFill>
                    <a:schemeClr val="accent1"/>
                  </a:solidFill>
                  <a:latin typeface="DM Sans"/>
                  <a:ea typeface="DM Sans"/>
                  <a:cs typeface="DM Sans"/>
                  <a:sym typeface="DM Sans"/>
                </a:rPr>
                <a:t>Embeddings and Threshold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2" y="5892429"/>
              <a:ext cx="9010162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599"/>
                </a:lnSpc>
              </a:pP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Face recognition relies on </a:t>
              </a:r>
              <a:r>
                <a:rPr lang="en-US" sz="1400" b="1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embeddings</a:t>
              </a: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to convert images into vectors, enabling comparison against stored data. A defined </a:t>
              </a:r>
              <a:r>
                <a:rPr lang="en-US" sz="1400" b="1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threshold</a:t>
              </a: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determines matches effectively and accurately.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296400" cy="463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  <a:spcBef>
                  <a:spcPct val="0"/>
                </a:spcBef>
              </a:pPr>
              <a:r>
                <a:rPr lang="en-US" sz="1333" spc="11">
                  <a:solidFill>
                    <a:srgbClr val="F0F8FF"/>
                  </a:solidFill>
                  <a:latin typeface="DM Sans"/>
                  <a:ea typeface="DM Sans"/>
                  <a:cs typeface="DM Sans"/>
                  <a:sym typeface="DM Sans"/>
                </a:rPr>
                <a:t>FACE RECOGNITION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438106E-FD61-01F2-C76B-F242F19CF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0" y="12700"/>
            <a:ext cx="6953250" cy="6845300"/>
            <a:chOff x="0" y="0"/>
            <a:chExt cx="2746963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4316"/>
            </a:xfrm>
            <a:custGeom>
              <a:avLst/>
              <a:gdLst/>
              <a:ahLst/>
              <a:cxnLst/>
              <a:rect l="l" t="t" r="r" b="b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746963" cy="27138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67"/>
                </a:lnSpc>
              </a:pPr>
              <a:endParaRPr sz="1200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82170" y="935610"/>
            <a:ext cx="2466410" cy="4999481"/>
            <a:chOff x="0" y="0"/>
            <a:chExt cx="9398000" cy="19050000"/>
          </a:xfrm>
        </p:grpSpPr>
        <p:sp>
          <p:nvSpPr>
            <p:cNvPr id="6" name="Freeform 6"/>
            <p:cNvSpPr/>
            <p:nvPr/>
          </p:nvSpPr>
          <p:spPr>
            <a:xfrm>
              <a:off x="401955" y="301498"/>
              <a:ext cx="8566912" cy="18446877"/>
            </a:xfrm>
            <a:custGeom>
              <a:avLst/>
              <a:gdLst/>
              <a:ahLst/>
              <a:cxnLst/>
              <a:rect l="l" t="t" r="r" b="b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2"/>
              <a:stretch>
                <a:fillRect l="-2889" r="-288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398000" cy="19050000"/>
            </a:xfrm>
            <a:custGeom>
              <a:avLst/>
              <a:gdLst/>
              <a:ahLst/>
              <a:cxnLst/>
              <a:rect l="l" t="t" r="r" b="b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87350" y="1788328"/>
            <a:ext cx="4738778" cy="3099778"/>
            <a:chOff x="0" y="863229"/>
            <a:chExt cx="9296400" cy="5750704"/>
          </a:xfrm>
        </p:grpSpPr>
        <p:sp>
          <p:nvSpPr>
            <p:cNvPr id="9" name="TextBox 9"/>
            <p:cNvSpPr txBox="1"/>
            <p:nvPr/>
          </p:nvSpPr>
          <p:spPr>
            <a:xfrm>
              <a:off x="0" y="863229"/>
              <a:ext cx="9296400" cy="2763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250"/>
                </a:lnSpc>
              </a:pPr>
              <a:r>
                <a:rPr lang="en-US" sz="5250" spc="-157" dirty="0">
                  <a:solidFill>
                    <a:schemeClr val="accent1"/>
                  </a:solidFill>
                  <a:latin typeface="DM Sans"/>
                  <a:ea typeface="DM Sans"/>
                  <a:cs typeface="DM Sans"/>
                  <a:sym typeface="DM Sans"/>
                </a:rPr>
                <a:t>Features-Based Detection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949328"/>
              <a:ext cx="8132667" cy="26646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599"/>
                </a:lnSpc>
              </a:pP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Features Used in Our System</a:t>
              </a:r>
            </a:p>
            <a:p>
              <a:pPr>
                <a:lnSpc>
                  <a:spcPts val="1599"/>
                </a:lnSpc>
              </a:pP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1. Image Sharpness (Laplacian Variance)</a:t>
              </a:r>
              <a:b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</a:b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2. Face Symmetry</a:t>
              </a:r>
              <a:b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</a:b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3. Skin Texture Consistency</a:t>
              </a:r>
              <a:b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</a:b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4. Edge Density</a:t>
              </a:r>
              <a:b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</a:br>
              <a:b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</a:br>
              <a:endParaRPr lang="en-US" sz="1400" dirty="0">
                <a:solidFill>
                  <a:schemeClr val="tx1">
                    <a:alpha val="97647"/>
                  </a:schemeClr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B675E31-09F2-7FF5-345B-D79DA9506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0" y="12700"/>
            <a:ext cx="6953250" cy="6845300"/>
            <a:chOff x="0" y="0"/>
            <a:chExt cx="2746963" cy="27043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4316"/>
            </a:xfrm>
            <a:custGeom>
              <a:avLst/>
              <a:gdLst/>
              <a:ahLst/>
              <a:cxnLst/>
              <a:rect l="l" t="t" r="r" b="b"/>
              <a:pathLst>
                <a:path w="2746963" h="2704316">
                  <a:moveTo>
                    <a:pt x="0" y="0"/>
                  </a:moveTo>
                  <a:lnTo>
                    <a:pt x="2746963" y="0"/>
                  </a:lnTo>
                  <a:lnTo>
                    <a:pt x="2746963" y="2704316"/>
                  </a:lnTo>
                  <a:lnTo>
                    <a:pt x="0" y="2704316"/>
                  </a:lnTo>
                  <a:close/>
                </a:path>
              </a:pathLst>
            </a:custGeom>
            <a:solidFill>
              <a:srgbClr val="0074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746963" cy="27138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67"/>
                </a:lnSpc>
              </a:pPr>
              <a:endParaRPr sz="1200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82170" y="935610"/>
            <a:ext cx="2466410" cy="4999481"/>
            <a:chOff x="0" y="0"/>
            <a:chExt cx="9398000" cy="19050000"/>
          </a:xfrm>
        </p:grpSpPr>
        <p:sp>
          <p:nvSpPr>
            <p:cNvPr id="6" name="Freeform 6"/>
            <p:cNvSpPr/>
            <p:nvPr/>
          </p:nvSpPr>
          <p:spPr>
            <a:xfrm>
              <a:off x="401955" y="301498"/>
              <a:ext cx="8566912" cy="18446877"/>
            </a:xfrm>
            <a:custGeom>
              <a:avLst/>
              <a:gdLst/>
              <a:ahLst/>
              <a:cxnLst/>
              <a:rect l="l" t="t" r="r" b="b"/>
              <a:pathLst>
                <a:path w="8566912" h="18446877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2"/>
              <a:stretch>
                <a:fillRect l="-2889" r="-288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398000" cy="19050000"/>
            </a:xfrm>
            <a:custGeom>
              <a:avLst/>
              <a:gdLst/>
              <a:ahLst/>
              <a:cxnLst/>
              <a:rect l="l" t="t" r="r" b="b"/>
              <a:pathLst>
                <a:path w="9398000" h="19050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3"/>
              <a:stretch>
                <a:fillRect l="-42" r="-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87350" y="1977392"/>
            <a:ext cx="4648200" cy="3330575"/>
            <a:chOff x="0" y="872755"/>
            <a:chExt cx="9296400" cy="6661150"/>
          </a:xfrm>
        </p:grpSpPr>
        <p:sp>
          <p:nvSpPr>
            <p:cNvPr id="9" name="TextBox 9"/>
            <p:cNvSpPr txBox="1"/>
            <p:nvPr/>
          </p:nvSpPr>
          <p:spPr>
            <a:xfrm>
              <a:off x="0" y="872755"/>
              <a:ext cx="9296400" cy="4671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6000" spc="-180" dirty="0">
                  <a:solidFill>
                    <a:schemeClr val="accent1"/>
                  </a:solidFill>
                  <a:latin typeface="DM Sans"/>
                  <a:ea typeface="DM Sans"/>
                  <a:cs typeface="DM Sans"/>
                  <a:sym typeface="DM Sans"/>
                </a:rPr>
                <a:t>System Process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892429"/>
              <a:ext cx="9025792" cy="1641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599"/>
                </a:lnSpc>
              </a:pP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This section outlines the </a:t>
              </a:r>
              <a:r>
                <a:rPr lang="en-US" sz="1400" b="1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step-by-step process</a:t>
              </a:r>
              <a:r>
                <a:rPr lang="en-US" sz="1400" dirty="0">
                  <a:solidFill>
                    <a:schemeClr val="tx1">
                      <a:alpha val="97647"/>
                    </a:schemeClr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of our face recognition and deepfake detection system, emphasizing smooth transitions and real-time analysis for enhanced security.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7EA1DA6-3273-89A0-EF03-2A130548A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6450" y="0"/>
            <a:ext cx="5035550" cy="6858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35" r="-1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44500" y="477838"/>
            <a:ext cx="6229838" cy="1738013"/>
            <a:chOff x="0" y="66675"/>
            <a:chExt cx="11099800" cy="347602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13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867"/>
                </a:lnSpc>
              </a:pPr>
              <a:r>
                <a:rPr lang="en-US" sz="5334" dirty="0">
                  <a:solidFill>
                    <a:schemeClr val="accent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Output Results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4"/>
              <a:ext cx="11099800" cy="14948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 dirty="0"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This section presents the </a:t>
              </a:r>
              <a:r>
                <a:rPr lang="en-US" sz="1400" b="1" dirty="0"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color-coded results</a:t>
              </a:r>
              <a:r>
                <a:rPr lang="en-US" sz="1400" dirty="0"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from our face recognition and deepfake detection system, illustrating the effectiveness and reliability of the implemented algorithms in real-time scenarios.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2312E91-4985-857E-31C9-1AC87DB1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6450" y="0"/>
            <a:ext cx="5035550" cy="6858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35" r="-1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44500" y="477838"/>
            <a:ext cx="6519008" cy="2480963"/>
            <a:chOff x="0" y="66675"/>
            <a:chExt cx="11099800" cy="496192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26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867"/>
                </a:lnSpc>
              </a:pPr>
              <a:r>
                <a:rPr lang="en-US" sz="5334" dirty="0">
                  <a:solidFill>
                    <a:schemeClr val="accent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Conclusion &amp; Future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1494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 dirty="0"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In conclusion, the </a:t>
              </a:r>
              <a:r>
                <a:rPr lang="en-US" sz="1400" b="1" dirty="0">
                  <a:latin typeface="Times New Roman" panose="02020603050405020304" pitchFamily="18" charset="0"/>
                  <a:ea typeface="DM Sans Bold"/>
                  <a:cs typeface="Times New Roman" panose="02020603050405020304" pitchFamily="18" charset="0"/>
                  <a:sym typeface="DM Sans Bold"/>
                </a:rPr>
                <a:t>Face Recognition with Deepfake Detection System</a:t>
              </a:r>
              <a:r>
                <a:rPr lang="en-US" sz="1400" dirty="0"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 promises enhanced security and real-time analysis, paving the way for future advancements in AI technology and face recognition.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AB9A2E9-9704-F403-67FF-6DCB60988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500" y="2796355"/>
            <a:ext cx="11303000" cy="115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6"/>
              </a:lnSpc>
            </a:pPr>
            <a:r>
              <a:rPr lang="en-US" sz="8666" spc="-259" dirty="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62200" y="6090195"/>
            <a:ext cx="7467600" cy="17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3"/>
              </a:lnSpc>
            </a:pPr>
            <a:r>
              <a:rPr lang="en-US" sz="1333" spc="-40">
                <a:solidFill>
                  <a:srgbClr val="F0F8FF"/>
                </a:solidFill>
                <a:latin typeface="DM Sans"/>
                <a:ea typeface="DM Sans"/>
                <a:cs typeface="DM Sans"/>
                <a:sym typeface="DM Sans"/>
              </a:rPr>
              <a:t>For inquiries, contact us at hello@reallygreatsite.com or visit our website.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EA332-571F-334B-3EE3-4BEF926FD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08" y="168014"/>
            <a:ext cx="2000738" cy="570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421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DM Sans</vt:lpstr>
      <vt:lpstr>Georgia Pro Light</vt:lpstr>
      <vt:lpstr>Times New Roman</vt:lpstr>
      <vt:lpstr>Office Theme</vt:lpstr>
      <vt:lpstr>PowerPoint Presentation</vt:lpstr>
      <vt:lpstr>Team Members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Painti Narendra</dc:creator>
  <cp:lastModifiedBy>Painti Narendra</cp:lastModifiedBy>
  <cp:revision>3</cp:revision>
  <dcterms:created xsi:type="dcterms:W3CDTF">2026-03-28T02:31:51Z</dcterms:created>
  <dcterms:modified xsi:type="dcterms:W3CDTF">2026-03-28T02:54:04Z</dcterms:modified>
</cp:coreProperties>
</file>